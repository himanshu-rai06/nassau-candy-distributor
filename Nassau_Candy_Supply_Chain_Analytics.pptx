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41726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41726"/>
                </a:solidFill>
                <a:latin typeface="Cambria"/>
              </a:rPr>
              <a:t>Order Volume by Factory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052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17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Lot's O' Nuts</c:v>
                  </c:pt>
                  <c:pt idx="1">
                    <c:v>Wicked Choccy's</c:v>
                  </c:pt>
                  <c:pt idx="2">
                    <c:v>Secret Factory</c:v>
                  </c:pt>
                  <c:pt idx="3">
                    <c:v>The Other Factory</c:v>
                  </c:pt>
                  <c:pt idx="4">
                    <c:v>Sugar Shack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5692</c:v>
                </c:pt>
                <c:pt idx="1">
                  <c:v>4152</c:v>
                </c:pt>
                <c:pt idx="2">
                  <c:v>217</c:v>
                </c:pt>
                <c:pt idx="3">
                  <c:v>100</c:v>
                </c:pt>
                <c:pt idx="4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417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7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D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726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41726"/>
                </a:solidFill>
                <a:latin typeface="Cambria"/>
              </a:rPr>
              <a:t>Average Lead Time (days) by Factory &amp;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Lot's O' Nuts</c:v>
                </c:pt>
              </c:strCache>
            </c:strRef>
          </c:tx>
          <c:spPr>
            <a:solidFill>
              <a:srgbClr val="7A6B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Atlantic</c:v>
                  </c:pt>
                  <c:pt idx="1">
                    <c:v>Gulf</c:v>
                  </c:pt>
                  <c:pt idx="2">
                    <c:v>Interior</c:v>
                  </c:pt>
                  <c:pt idx="3">
                    <c:v>Pacific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1327</c:v>
                </c:pt>
                <c:pt idx="1">
                  <c:v>1314</c:v>
                </c:pt>
                <c:pt idx="2">
                  <c:v>1324</c:v>
                </c:pt>
                <c:pt idx="3">
                  <c:v>1318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Secret Factory</c:v>
                </c:pt>
              </c:strCache>
            </c:strRef>
          </c:tx>
          <c:spPr>
            <a:solidFill>
              <a:srgbClr val="C9BB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Atlantic</c:v>
                  </c:pt>
                  <c:pt idx="1">
                    <c:v>Gulf</c:v>
                  </c:pt>
                  <c:pt idx="2">
                    <c:v>Interior</c:v>
                  </c:pt>
                  <c:pt idx="3">
                    <c:v>Pacific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1349</c:v>
                </c:pt>
                <c:pt idx="1">
                  <c:v>1333</c:v>
                </c:pt>
                <c:pt idx="2">
                  <c:v>1289</c:v>
                </c:pt>
                <c:pt idx="3">
                  <c:v>1308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Sugar Shack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Atlantic</c:v>
                  </c:pt>
                  <c:pt idx="1">
                    <c:v>Gulf</c:v>
                  </c:pt>
                  <c:pt idx="2">
                    <c:v>Interior</c:v>
                  </c:pt>
                  <c:pt idx="3">
                    <c:v>Pacific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1375</c:v>
                </c:pt>
                <c:pt idx="1">
                  <c:v>1091</c:v>
                </c:pt>
                <c:pt idx="2">
                  <c:v>1319</c:v>
                </c:pt>
                <c:pt idx="3">
                  <c:v>1517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The Other Factory</c:v>
                </c:pt>
              </c:strCache>
            </c:strRef>
          </c:tx>
          <c:spPr>
            <a:solidFill>
              <a:srgbClr val="F052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Atlantic</c:v>
                  </c:pt>
                  <c:pt idx="1">
                    <c:v>Gulf</c:v>
                  </c:pt>
                  <c:pt idx="2">
                    <c:v>Interior</c:v>
                  </c:pt>
                  <c:pt idx="3">
                    <c:v>Pacific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1283</c:v>
                </c:pt>
                <c:pt idx="1">
                  <c:v>1273</c:v>
                </c:pt>
                <c:pt idx="2">
                  <c:v>1207</c:v>
                </c:pt>
                <c:pt idx="3">
                  <c:v>1307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Wicked Choccy's</c:v>
                </c:pt>
              </c:strCache>
            </c:strRef>
          </c:tx>
          <c:spPr>
            <a:solidFill>
              <a:srgbClr val="2F1B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Atlantic</c:v>
                  </c:pt>
                  <c:pt idx="1">
                    <c:v>Gulf</c:v>
                  </c:pt>
                  <c:pt idx="2">
                    <c:v>Interior</c:v>
                  </c:pt>
                  <c:pt idx="3">
                    <c:v>Pacific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1316</c:v>
                </c:pt>
                <c:pt idx="1">
                  <c:v>1309</c:v>
                </c:pt>
                <c:pt idx="2">
                  <c:v>1325</c:v>
                </c:pt>
                <c:pt idx="3">
                  <c:v>1329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7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000"/>
        </c:scaling>
        <c:delete val="0"/>
        <c:axPos val="l"/>
        <c:majorGridlines>
          <c:spPr>
            <a:ln w="9525" cap="flat">
              <a:solidFill>
                <a:srgbClr val="E3D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726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41726"/>
                </a:solidFill>
                <a:latin typeface="Cambria"/>
              </a:rPr>
              <a:t>Gradient Boosting Feature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 Importance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Order Year</c:v>
                  </c:pt>
                  <c:pt idx="1">
                    <c:v>Order Month</c:v>
                  </c:pt>
                  <c:pt idx="2">
                    <c:v>Region</c:v>
                  </c:pt>
                  <c:pt idx="3">
                    <c:v>Sales</c:v>
                  </c:pt>
                  <c:pt idx="4">
                    <c:v>Ship Mode</c:v>
                  </c:pt>
                  <c:pt idx="5">
                    <c:v>Product</c:v>
                  </c:pt>
                  <c:pt idx="6">
                    <c:v>Factory</c:v>
                  </c:pt>
                  <c:pt idx="7">
                    <c:v>Units</c:v>
                  </c:pt>
                  <c:pt idx="8">
                    <c:v>Profit Margin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0.9707</c:v>
                </c:pt>
                <c:pt idx="1">
                  <c:v>0.0082</c:v>
                </c:pt>
                <c:pt idx="2">
                  <c:v>0.0073</c:v>
                </c:pt>
                <c:pt idx="3">
                  <c:v>0.0067</c:v>
                </c:pt>
                <c:pt idx="4">
                  <c:v>0.0026</c:v>
                </c:pt>
                <c:pt idx="5">
                  <c:v>0.0018</c:v>
                </c:pt>
                <c:pt idx="6">
                  <c:v>0</c:v>
                </c:pt>
                <c:pt idx="7">
                  <c:v>0.0014</c:v>
                </c:pt>
                <c:pt idx="8">
                  <c:v>0.0012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17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726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41726"/>
                </a:solidFill>
                <a:latin typeface="Cambria"/>
              </a:rPr>
              <a:t>Post-Reassignment Margin Risk (13 products)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0B429"/>
              </a:solidFill>
              <a:effectLst/>
            </c:spPr>
          </c:dPt>
          <c:dPt>
            <c:idx val="1"/>
            <c:bubble3D val="0"/>
            <c:spPr>
              <a:solidFill>
                <a:srgbClr val="F0526B"/>
              </a:solidFill>
              <a:effectLst/>
            </c:spPr>
          </c:dPt>
          <c:dPt>
            <c:idx val="2"/>
            <c:bubble3D val="0"/>
            <c:spPr>
              <a:solidFill>
                <a:srgbClr val="C9BBD0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Moderate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914400"/>
            <a:ext cx="3840480" cy="3840480"/>
          </a:xfrm>
          <a:prstGeom prst="ellipse">
            <a:avLst/>
          </a:prstGeom>
          <a:solidFill>
            <a:srgbClr val="F0526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206240"/>
            <a:ext cx="2377440" cy="2377440"/>
          </a:xfrm>
          <a:prstGeom prst="ellipse">
            <a:avLst/>
          </a:prstGeom>
          <a:solidFill>
            <a:srgbClr val="F0B42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4937760"/>
            <a:ext cx="2743200" cy="2743200"/>
          </a:xfrm>
          <a:prstGeom prst="ellipse">
            <a:avLst/>
          </a:prstGeom>
          <a:solidFill>
            <a:srgbClr val="F0526B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Analytics for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Nassau Candy Distributor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Analysis, Operational Insights, and Factory Reassignment Recommendations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4709160"/>
            <a:ext cx="2011680" cy="0"/>
          </a:xfrm>
          <a:prstGeom prst="line">
            <a:avLst/>
          </a:prstGeom>
          <a:noFill/>
          <a:ln w="38100">
            <a:solidFill>
              <a:srgbClr val="F052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937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Distribution Network Running on Legacy Rules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fulfils orders from five factories into four U.S. and Canadian sales regions. Factory-to-product assignment is fixed by static legacy rules rather than data — creating measurable inefficiencies in shipping distance, lead time, and margin.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2F1B41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3524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35240" y="3136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Regions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403250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0" y="41239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SKUs, 3 Divisions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492861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10,194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0" y="502005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(2024–2025)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256032" cy="256032"/>
          </a:xfrm>
          <a:prstGeom prst="ellipse">
            <a:avLst/>
          </a:prstGeom>
          <a:solidFill>
            <a:srgbClr val="F0526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73989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 dataset quality via EDA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42816"/>
            <a:ext cx="256032" cy="256032"/>
          </a:xfrm>
          <a:prstGeom prst="ellipse">
            <a:avLst/>
          </a:prstGeom>
          <a:solidFill>
            <a:srgbClr val="F0526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33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16052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lead-time patterns across factories, regions, ship modes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256032" cy="256032"/>
          </a:xfrm>
          <a:prstGeom prst="ellipse">
            <a:avLst/>
          </a:prstGeom>
          <a:solidFill>
            <a:srgbClr val="F0526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654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58114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sales, cost, and margin performance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084064"/>
            <a:ext cx="256032" cy="256032"/>
          </a:xfrm>
          <a:prstGeom prst="ellipse">
            <a:avLst/>
          </a:prstGeom>
          <a:solidFill>
            <a:srgbClr val="F0526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074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5001768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routes and products by operational efficiency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504688"/>
            <a:ext cx="256032" cy="256032"/>
          </a:xfrm>
          <a:prstGeom prst="ellipse">
            <a:avLst/>
          </a:prstGeom>
          <a:solidFill>
            <a:srgbClr val="F0526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495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54223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lead time (RMSE / MAE / R²) across three algorithms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925312"/>
            <a:ext cx="256032" cy="256032"/>
          </a:xfrm>
          <a:prstGeom prst="ellipse">
            <a:avLst/>
          </a:prstGeom>
          <a:solidFill>
            <a:srgbClr val="F0526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916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584301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factory reassignment and rank by composite priority score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Analysis-Ready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10,194 order-line records spanning January 2024 to December 2025, across the United States and Canada. Zero null values and zero duplicate records confirmed at intake.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F1B4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→ 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feature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423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F1B41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and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423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F1B41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5508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divisions: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Chocolate, Sugar, Other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423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F1B41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96.6%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8972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from just 5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 Wonka Bars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SCHEMA FIELDS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64240" cy="1691640"/>
        </p:xfrm>
        <a:graphic>
          <a:graphicData uri="http://schemas.openxmlformats.org/drawingml/2006/table">
            <a:tbl>
              <a:tblPr/>
              <a:tblGrid>
                <a:gridCol w="2468880"/>
                <a:gridCol w="85953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Standard, First, Second Class, Same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/ Region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Chocolate, Sugar, Other  ·  Atlantic, Gulf, Interior, Pacific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(mean $13.91), Units (mean 3.79), Gross Profit (mean $9.17), Cost (mean $4.74)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55.8% · Wicked Choccy's 40.7% · remaining three factories 3.4% combined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Orders to Actionable Signal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2F1B4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103120"/>
            <a:ext cx="457200" cy="457200"/>
          </a:xfrm>
          <a:prstGeom prst="ellipse">
            <a:avLst/>
          </a:prstGeom>
          <a:solidFill>
            <a:srgbClr val="F0526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check confirms trimodal lead-time is structural, not erroneous. All 10,194 rows retained.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63824" y="30403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47288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45294F"/>
          </a:solidFill>
          <a:ln/>
        </p:spPr>
      </p:sp>
      <p:sp>
        <p:nvSpPr>
          <p:cNvPr id="11" name="Shape 9"/>
          <p:cNvSpPr/>
          <p:nvPr/>
        </p:nvSpPr>
        <p:spPr>
          <a:xfrm>
            <a:off x="3648456" y="2103120"/>
            <a:ext cx="457200" cy="457200"/>
          </a:xfrm>
          <a:prstGeom prst="ellipse">
            <a:avLst/>
          </a:prstGeom>
          <a:solidFill>
            <a:srgbClr val="F0526B"/>
          </a:solidFill>
          <a:ln/>
        </p:spPr>
      </p:sp>
      <p:sp>
        <p:nvSpPr>
          <p:cNvPr id="12" name="Text 10"/>
          <p:cNvSpPr/>
          <p:nvPr/>
        </p:nvSpPr>
        <p:spPr>
          <a:xfrm>
            <a:off x="364845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8456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48456" y="320040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Time, Factory mapping, Profit Margin %, Order Month/Year, Haversine shipping distance, Factory Utilisation.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62472" y="30403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45936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2F1B41"/>
          </a:solidFill>
          <a:ln/>
        </p:spPr>
      </p:sp>
      <p:sp>
        <p:nvSpPr>
          <p:cNvPr id="17" name="Shape 15"/>
          <p:cNvSpPr/>
          <p:nvPr/>
        </p:nvSpPr>
        <p:spPr>
          <a:xfrm>
            <a:off x="6547104" y="2103120"/>
            <a:ext cx="457200" cy="457200"/>
          </a:xfrm>
          <a:prstGeom prst="ellipse">
            <a:avLst/>
          </a:prstGeom>
          <a:solidFill>
            <a:srgbClr val="F0526B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47104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&amp; Scaling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7104" y="320040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for categoricals; MinMaxScaler for modelling features; StandardScaler for clustering features.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0" y="30403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44584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45294F"/>
          </a:solidFill>
          <a:ln/>
        </p:spPr>
      </p:sp>
      <p:sp>
        <p:nvSpPr>
          <p:cNvPr id="23" name="Shape 21"/>
          <p:cNvSpPr/>
          <p:nvPr/>
        </p:nvSpPr>
        <p:spPr>
          <a:xfrm>
            <a:off x="9445752" y="2103120"/>
            <a:ext cx="457200" cy="457200"/>
          </a:xfrm>
          <a:prstGeom prst="ellipse">
            <a:avLst/>
          </a:prstGeom>
          <a:solidFill>
            <a:srgbClr val="F0526B"/>
          </a:solidFill>
          <a:ln/>
        </p:spPr>
      </p:sp>
      <p:sp>
        <p:nvSpPr>
          <p:cNvPr id="24" name="Text 22"/>
          <p:cNvSpPr/>
          <p:nvPr/>
        </p:nvSpPr>
        <p:spPr>
          <a:xfrm>
            <a:off x="944575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45752" y="26974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&amp; Simulation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45752" y="320040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(random_state=42) feeds predictive models, K-Means clustering, and the reassignment simulation engine.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engineered features expand the schema from 18 to 23 columns for modelling, and 25 for route-level clustering.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Regressors, One Evaluation Standard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is predicted from a 9-feature matrix (categorical, temporal, financial) using an 80/20 train-test split, evaluated on RMSE, MAE, and R² to select the strongest model.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BF8F3"/>
          </a:solidFill>
          <a:ln w="12700">
            <a:solidFill>
              <a:srgbClr val="E3D9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baseline; coefficients quantify each feature's marginal effect in days.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4688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BF8F3"/>
          </a:solidFill>
          <a:ln w="12700">
            <a:solidFill>
              <a:srgbClr val="E3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9992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100-tree ensemble (Breiman, 2001) capturing non-linear feature interactions.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24688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BF8F3"/>
          </a:solidFill>
          <a:ln w="12700">
            <a:solidFill>
              <a:srgbClr val="E3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29992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100-estimator booster (Friedman, 2001) for complex interaction effects.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(9 VARIABLES)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6424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Product, Factory, Region, Ship Mode (label-encoded)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Month, Order 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Units, Profit Margin % (Min-Max normalised)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Routes, Simulating Reassignment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2F1B4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scoring (Rousseeuw, 1987) selects the optimal K independently for two clustering tasks: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0" y="27889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clustering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0.4119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features: lead time, cost,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utilisation, volume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4846320" cy="0"/>
          </a:xfrm>
          <a:prstGeom prst="line">
            <a:avLst/>
          </a:prstGeom>
          <a:noFill/>
          <a:ln w="12700">
            <a:solidFill>
              <a:srgbClr val="5A42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94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286000" y="38404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clustering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0.3861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features: lead time, std dev,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sales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D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Optimised → Efficient → Moderate → Congested → Bottleneck (routes); Fast &amp; Profitable → Average Performer → Slow &amp; Risky (products).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BF8F3"/>
          </a:solidFill>
          <a:ln w="12700">
            <a:solidFill>
              <a:srgbClr val="E3D9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105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REASSIGNMENT SIMULATION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17627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product, every alternative factory is simulated. Only scenarios with a positive lead-time reduction are retained.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834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Priority Score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324612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3D9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246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8952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reduction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84048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3D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840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profit margin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443484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3D9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434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89520" y="4434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order volume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scenarios evaluated across 13 active products (Hair Toffee excluded — see Insight below).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Factories Absorb 96.5% of All Orders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2F1B41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55280" y="25146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(9,844) fulfilled by just Lot's O' Nuts and Wicked Choccy's — both classified as Congested Routes.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794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BF8F3"/>
          </a:solidFill>
          <a:ln w="12700">
            <a:solidFill>
              <a:srgbClr val="E3D9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3931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955280" y="47091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volume goes to The Other Factory — despite it posting the network's best lead times across every region.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Factory Is the Operational Benchmark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680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554480"/>
            <a:ext cx="3154680" cy="4480560"/>
          </a:xfrm>
          <a:prstGeom prst="roundRect">
            <a:avLst>
              <a:gd name="adj" fmla="val 2899"/>
            </a:avLst>
          </a:prstGeom>
          <a:solidFill>
            <a:srgbClr val="2F1B41"/>
          </a:solidFill>
          <a:ln/>
        </p:spPr>
      </p:sp>
      <p:sp>
        <p:nvSpPr>
          <p:cNvPr id="6" name="Text 3"/>
          <p:cNvSpPr/>
          <p:nvPr/>
        </p:nvSpPr>
        <p:spPr>
          <a:xfrm>
            <a:off x="864108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1,267.3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641080" y="2331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— The Other Factory's overall average lead time, the lowest of any factory.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41080" y="3337560"/>
            <a:ext cx="2743200" cy="0"/>
          </a:xfrm>
          <a:prstGeom prst="line">
            <a:avLst/>
          </a:prstGeom>
          <a:noFill/>
          <a:ln w="12700">
            <a:solidFill>
              <a:srgbClr val="5A42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~53–57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641080" y="3977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faster than Lot's O' Nuts and Wicked Choccy's, network-wide.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41080" y="4892040"/>
            <a:ext cx="2743200" cy="0"/>
          </a:xfrm>
          <a:prstGeom prst="line">
            <a:avLst/>
          </a:prstGeom>
          <a:noFill/>
          <a:ln w="12700">
            <a:solidFill>
              <a:srgbClr val="5A42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5029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D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ship-mode account for near-zero variation in lead time (|r| ≤ 0.02) — the effect is factory-driven.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Year Explains 97% of the Signal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486400" cy="1645920"/>
        </p:xfrm>
        <a:graphic>
          <a:graphicData uri="http://schemas.openxmlformats.org/drawingml/2006/table">
            <a:tbl>
              <a:tblPr/>
              <a:tblGrid>
                <a:gridCol w="2377440"/>
                <a:gridCol w="1051560"/>
                <a:gridCol w="1005840"/>
                <a:gridCol w="1051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181.21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5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wins on RMSE and R² — ensemble complexity adds nothing once a single temporal feature dominates the signal.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09360" y="1600200"/>
          <a:ext cx="5303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Route Profiles, Three Product Profiles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CLUSTERS (K = 5)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7088"/>
          <a:ext cx="5486400" cy="214884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37160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Lead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 Routes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Routes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Routes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Congested Routes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05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 Routes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Factory = Efficient across all 4 regions. Lot's O' Nuts &amp; Wicked Choccy's = Congested across all 4 regions.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09360" y="1536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CLUSTERS (K = 3)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87452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2F1B41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2039112"/>
            <a:ext cx="109728" cy="77724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9842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&amp; Profitable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66560" y="231343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Dip, Kazookles — fastest lead times; Kazookles' 7.7% margin is a financial weak point.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309360" y="3136392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2F1B41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3300984"/>
            <a:ext cx="109728" cy="777240"/>
          </a:xfrm>
          <a:prstGeom prst="roundRect">
            <a:avLst>
              <a:gd name="adj" fmla="val 50000"/>
            </a:avLst>
          </a:prstGeom>
          <a:solidFill>
            <a:srgbClr val="7A6B80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0" y="3246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Performer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66560" y="357530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Chocolate Wonka Bars, Wonka Gum, Fizzy Lifting Drinks, Nerds — the volume core of the network, 64–71% margins.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309360" y="4398264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2F1B41"/>
          </a:solidFill>
          <a:ln/>
        </p:spPr>
      </p:sp>
      <p:sp>
        <p:nvSpPr>
          <p:cNvPr id="17" name="Shape 14"/>
          <p:cNvSpPr/>
          <p:nvPr/>
        </p:nvSpPr>
        <p:spPr>
          <a:xfrm>
            <a:off x="6492240" y="4562856"/>
            <a:ext cx="109728" cy="777240"/>
          </a:xfrm>
          <a:prstGeom prst="roundRect">
            <a:avLst>
              <a:gd name="adj" fmla="val 50000"/>
            </a:avLst>
          </a:prstGeom>
          <a:solidFill>
            <a:srgbClr val="F0526B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45079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&amp; Risky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66560" y="4837176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Everlasting Gobstopper, Hair Toffee, Lickable Wallpaper — highest lead times, highest urgency.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Factory: Universal Optimal Destination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active products' top-scoring reassignment scenario points to the same destination.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2651760"/>
        </p:xfrm>
        <a:graphic>
          <a:graphicData uri="http://schemas.openxmlformats.org/drawingml/2006/table">
            <a:tbl>
              <a:tblPr/>
              <a:tblGrid>
                <a:gridCol w="822960"/>
                <a:gridCol w="3383280"/>
                <a:gridCol w="3108960"/>
                <a:gridCol w="1508760"/>
                <a:gridCol w="13258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Factory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(days)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Everlasting Gobstopper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05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Fizzy Lifting Drinks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 Shack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Wonka Bar – Nutty Crunch Surprise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Wonka Bar – Scrumdiddlyumptious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Wonka Bar – Fudge Mallows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more 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 Shack / Wicked Choccy's / Secret Factory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52–58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F1B41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001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534,218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5513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operational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saved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4892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F1B41"/>
          </a:solidFill>
          <a:ln/>
        </p:spPr>
      </p:sp>
      <p:sp>
        <p:nvSpPr>
          <p:cNvPr id="10" name="Text 7"/>
          <p:cNvSpPr/>
          <p:nvPr/>
        </p:nvSpPr>
        <p:spPr>
          <a:xfrm>
            <a:off x="3566160" y="5001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54.8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566160" y="5513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days saved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product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4892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F1B41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5001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00800" y="5513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reassigned to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Factory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52560" y="48920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F1B41"/>
          </a:solidFill>
          <a:ln/>
        </p:spPr>
      </p:sp>
      <p:sp>
        <p:nvSpPr>
          <p:cNvPr id="16" name="Text 13"/>
          <p:cNvSpPr/>
          <p:nvPr/>
        </p:nvSpPr>
        <p:spPr>
          <a:xfrm>
            <a:off x="9235440" y="5001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&lt;0.05pp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235440" y="5513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profit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impact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Financially Safe, Operationally Validated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66928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B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Reduction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05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4.24% 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3.75%–4.57%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Impact Stability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&lt;0.05 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products lose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Confidence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of 60 scenarios improve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of 15 products covered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4206240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2F1B41"/>
          </a:solidFill>
          <a:ln/>
        </p:spPr>
      </p:sp>
      <p:sp>
        <p:nvSpPr>
          <p:cNvPr id="7" name="Text 3"/>
          <p:cNvSpPr/>
          <p:nvPr/>
        </p:nvSpPr>
        <p:spPr>
          <a:xfrm>
            <a:off x="6172200" y="434340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Kazookles carries a 7.7% margin (96 of The Other Factory's 100 orders), pulling its weighted average to ~10%. This is a pre-existing product-mix issue at the destination factory — reassignment itself does not create it, and incoming products keep their own margins (Δ &lt; 0.05 pp).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754880"/>
            <a:ext cx="3200400" cy="3200400"/>
          </a:xfrm>
          <a:prstGeom prst="ellipse">
            <a:avLst/>
          </a:prstGeom>
          <a:solidFill>
            <a:srgbClr val="F0526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Path to 534,218 Days Saved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45294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756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Immediate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Everlasting Gobstopper: Secret Factory → The Other Factory. Highest composite score; 80% margin; 52 days saved per order.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4529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0756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Short Term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587752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Chocolate Wonka Bars from Lot's O' Nuts and Wicked Choccy's. Over 480,000 of the 534,218 total days saved, driven by 1,810–2,137 orders per product.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874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45294F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0756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Medium Term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2587752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Sugar Shack &amp; Secret Factory products, pending capacity availability at The Other Factory.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09728" cy="10972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274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assumes unlimited capacity at The Other Factory — real throughput ceilings must be modelled next.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30368"/>
            <a:ext cx="109728" cy="10972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1149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lead-time values (up to 1,642 days) require validation against real shipping logs before implementation.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614416"/>
            <a:ext cx="109728" cy="10972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49554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Factory's own product mix (Hair Toffee, Kazookles) warrants a separate pricing review.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 — Supply Chain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2026-07-12T20:47:05Z</dcterms:created>
  <dcterms:modified xsi:type="dcterms:W3CDTF">2026-07-12T20:47:05Z</dcterms:modified>
</cp:coreProperties>
</file>